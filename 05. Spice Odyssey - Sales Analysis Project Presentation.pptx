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80" r:id="rId3"/>
    <p:sldId id="281" r:id="rId4"/>
    <p:sldId id="276" r:id="rId5"/>
    <p:sldId id="260" r:id="rId6"/>
    <p:sldId id="287" r:id="rId7"/>
    <p:sldId id="278" r:id="rId8"/>
    <p:sldId id="279" r:id="rId9"/>
    <p:sldId id="262" r:id="rId10"/>
    <p:sldId id="273" r:id="rId11"/>
    <p:sldId id="28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5CF1F-F9A3-4EFC-825C-53D69F984385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31917-29C8-4BC7-957C-F11257860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02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D1AD1-5408-3924-9E82-E0BB72F07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AC6D5-7547-85A9-8E32-CC00183D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002EF2-592C-DC65-CAAA-8AFDDA1AF7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9FAE1-F0F9-D2F2-EC53-AC69F07BC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912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610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76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7CF-3689-70DD-CB28-AAE1111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1CE79-C9C7-BB25-EF2A-10D005847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02CA-5B96-CB8A-20AE-3906E8C3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4E639-AD7E-574C-C9E9-F5B43490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CD176-E79D-6844-CB60-E7C78B68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7AB7-A55C-0B82-FAED-B7E332320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BAA-D510-ABB0-901D-0FAB309B0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12E59-3B88-F398-664D-3985AEA3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125EA-93FA-07C0-7322-40260FD5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5D02C-4A2F-1824-59A1-7983E449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5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BFFE9-1FD7-F63D-6439-1E27142E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7795-663E-05D7-5AD6-EDE501C60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8FD33-591E-4820-A128-A94F0B33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73559-082C-1927-2A99-DB0902A7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344-A764-7087-642A-130D4BD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58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62F8-3E12-F92D-405F-D6F53873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0E924-67EF-C4F4-CBC4-3BA853B51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F2A22-3AA1-9209-180C-ACD5CAE43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B6BA27-B2FD-C446-BEC7-8C46DD9B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49FC-F9E9-C312-F4C6-8D6D604F9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505D3-5917-4780-1633-FE4FD211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7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271D-B1D1-D670-316D-2468EC1F2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281C9-A6B4-72BB-6420-63D0C9FB8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F6D81-DC99-1889-9E64-F6033F06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58B6AD-9212-7FEB-CFE3-F3E14CFE6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93A19-BA01-CA22-F22E-732EFB0CE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FDF2F-88B4-F652-05E4-CA5A375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AF91B-DD72-2AA0-29EB-85B6300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C143-07DD-21D1-88BC-58DBC3BE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1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502C-7C07-3A37-3440-CFE6877C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34A65-9ABA-A4CB-2DD7-5CB25ECE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497960-613F-64A1-9E19-FCAF8E81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4B99-D02C-E34A-900E-401B4D53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2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03A9-34DF-1A1A-0FAE-6315B950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D59CC-1CEE-6108-18C9-364D0D30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AA34D-CFA4-C5D3-2E13-D88629799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679-E51D-0CCA-C05C-4463EE1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97ADE-E05C-21F4-DCE0-A14C75F5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D3006-CFC8-B856-9620-E3B6D8BE98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F8152A-8351-B7BE-2FF4-ECFD17E1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8D4CE-EDF4-0C77-DFBD-B16DB10CC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EC1D1-D55C-A862-30A7-9C883B68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13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72F1-FAF3-F6B1-75BE-9D89225C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0378F-FD1A-2C35-6AE0-CE2E78A7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C9C7-AA5D-5148-E367-145C76EB9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CB853-5ABE-2552-6205-942FD79D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29388-4C49-BE88-B847-EE920D61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43087-2BB3-A704-D22E-D242C721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27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142C-5EF6-2436-9786-E5975AD4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4508B-5FD2-4D1F-FD73-B24651E21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65CB0-E5BC-47F5-6035-DBCFE434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356D-EF3B-C45C-A827-E6901EAF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5E016-DF99-DC44-C6F3-B22839CB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7D9BCE-A0F0-4C4F-1D8F-DC958C87F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F0D40-AC43-C1C8-5C8B-94D803BC0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B8351-C7F1-1407-53B1-FD03FFC3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0FF2-A8E9-E359-37B4-ED45884B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22B75-6ECC-17A2-20CE-2675B3D9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2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F13E8-0655-D862-8DF0-C1E93F72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BFED0-7C94-95B8-C497-12C513EF1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37FD-4D5B-4F88-10A6-46C987B1D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CA240-4DCA-41BB-A29D-1D0DE405E1C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67536-CC95-FFEB-5C32-E7F7DA66E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6531-DCEC-0275-6210-63850CEAF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9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8680-A25A-D894-2D56-B1731FC78D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914400"/>
            <a:ext cx="12192000" cy="1700784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Spice Odyssey Sales Performance Analysis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EA40268-244F-926E-D357-3F80868EF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5184"/>
            <a:ext cx="9713976" cy="2642616"/>
          </a:xfrm>
        </p:spPr>
        <p:txBody>
          <a:bodyPr/>
          <a:lstStyle/>
          <a:p>
            <a:pPr algn="r"/>
            <a:r>
              <a:rPr lang="en-US" b="1" dirty="0"/>
              <a:t>- A Data Analytics Case Study by Anik Chakraborty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0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6A398-D65D-B3E5-9070-A8CA33963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199EC-E2BC-3F53-0638-8618F6375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3B8E6-EDC8-CCB1-DC20-A9A52B800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7008"/>
            <a:ext cx="12192000" cy="5650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Analyze and interpret </a:t>
            </a:r>
            <a:r>
              <a:rPr lang="en-US" sz="1500" b="1" dirty="0"/>
              <a:t>Spice Odyssey Sales data</a:t>
            </a:r>
            <a:r>
              <a:rPr lang="en-US" sz="1500" dirty="0"/>
              <a:t> to uncover actionable insights that drive </a:t>
            </a:r>
            <a:r>
              <a:rPr lang="en-US" sz="1500" b="1" dirty="0"/>
              <a:t>customer engagement, menu &amp; product optimization, targeted marketing, inventory &amp; operational planning.</a:t>
            </a:r>
            <a:br>
              <a:rPr lang="en-US" sz="1500" b="1" dirty="0"/>
            </a:br>
            <a:br>
              <a:rPr lang="en-US" sz="1500" b="1" dirty="0"/>
            </a:b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Project Purpose:</a:t>
            </a:r>
          </a:p>
          <a:p>
            <a:pPr lvl="1"/>
            <a:r>
              <a:rPr lang="en-US" sz="1500" dirty="0"/>
              <a:t>To analyze restaurant sales data and uncover </a:t>
            </a:r>
            <a:r>
              <a:rPr lang="en-US" sz="1500" b="1" dirty="0"/>
              <a:t>ordering patterns, customer preferences, and revenue drivers</a:t>
            </a:r>
            <a:r>
              <a:rPr lang="en-US" sz="1500" dirty="0"/>
              <a:t>.</a:t>
            </a:r>
          </a:p>
          <a:p>
            <a:pPr lvl="1"/>
            <a:r>
              <a:rPr lang="en-US" sz="1500" dirty="0"/>
              <a:t>To support </a:t>
            </a:r>
            <a:r>
              <a:rPr lang="en-US" sz="1500" b="1" dirty="0"/>
              <a:t>data-driven decisions</a:t>
            </a:r>
            <a:r>
              <a:rPr lang="en-US" sz="1500" dirty="0"/>
              <a:t> for menu optimization, pricing strategy, and operational planning.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KPIs:</a:t>
            </a:r>
          </a:p>
          <a:p>
            <a:pPr lvl="1"/>
            <a:r>
              <a:rPr lang="en-US" sz="1500" b="1" dirty="0"/>
              <a:t>Total Orders: </a:t>
            </a:r>
            <a:r>
              <a:rPr lang="en-US" sz="1500" dirty="0"/>
              <a:t>5K</a:t>
            </a:r>
          </a:p>
          <a:p>
            <a:pPr lvl="1"/>
            <a:r>
              <a:rPr lang="en-US" sz="1500" b="1" dirty="0"/>
              <a:t>Total Sales:  </a:t>
            </a:r>
            <a:r>
              <a:rPr lang="en-US" sz="1500" dirty="0"/>
              <a:t>~160K</a:t>
            </a:r>
          </a:p>
          <a:p>
            <a:pPr lvl="1"/>
            <a:r>
              <a:rPr lang="en-US" sz="1500" b="1" dirty="0"/>
              <a:t>Average Price: </a:t>
            </a:r>
            <a:r>
              <a:rPr lang="en-US" sz="1500" dirty="0"/>
              <a:t>~13.16</a:t>
            </a:r>
          </a:p>
          <a:p>
            <a:pPr lvl="1"/>
            <a:r>
              <a:rPr lang="en-US" sz="1500" b="1" dirty="0"/>
              <a:t>Average Order Value (AOV): </a:t>
            </a:r>
            <a:r>
              <a:rPr lang="en-US" sz="1500" dirty="0"/>
              <a:t>~29.27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Deliverables:</a:t>
            </a:r>
          </a:p>
          <a:p>
            <a:pPr lvl="1"/>
            <a:r>
              <a:rPr lang="en-US" sz="1500" dirty="0"/>
              <a:t>Interactive </a:t>
            </a:r>
            <a:r>
              <a:rPr lang="en-US" sz="1500" b="1" dirty="0"/>
              <a:t>Power BI dashboard</a:t>
            </a:r>
            <a:endParaRPr lang="en-US" sz="1500" dirty="0"/>
          </a:p>
          <a:p>
            <a:pPr lvl="1"/>
            <a:r>
              <a:rPr lang="en-US" sz="1500" dirty="0"/>
              <a:t>Actionable </a:t>
            </a:r>
            <a:r>
              <a:rPr lang="en-US" sz="1500" b="1" dirty="0"/>
              <a:t>business insights</a:t>
            </a:r>
            <a:endParaRPr lang="en-US" sz="1500" dirty="0"/>
          </a:p>
          <a:p>
            <a:pPr lvl="1"/>
            <a:r>
              <a:rPr lang="en-US" sz="1500" dirty="0"/>
              <a:t>Strategic </a:t>
            </a:r>
            <a:r>
              <a:rPr lang="en-US" sz="1500" b="1" dirty="0"/>
              <a:t>recommendations for menu &amp; operations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379018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57152-A1B7-CE90-04EE-620485BE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40946-3428-2B8C-43D9-4F9CC6381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2416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E6036-ACFD-1AD7-4DEB-404B3BBE7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0783"/>
            <a:ext cx="12192000" cy="51572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marL="0" indent="0">
              <a:buNone/>
            </a:pPr>
            <a:r>
              <a:rPr lang="en-US" altLang="en-US" sz="1500" dirty="0"/>
              <a:t>This project analyzes sales data for </a:t>
            </a:r>
            <a:r>
              <a:rPr lang="en-US" altLang="en-US" sz="1500" b="1" dirty="0"/>
              <a:t>Spice Odyssey</a:t>
            </a:r>
            <a:r>
              <a:rPr lang="en-US" altLang="en-US" sz="1500" dirty="0"/>
              <a:t>, a multi-cuisine restaurant brand, to provide a holistic view of business performance and customer behavior.</a:t>
            </a:r>
            <a:endParaRPr lang="en-US" sz="1500" b="1" dirty="0"/>
          </a:p>
          <a:p>
            <a:pPr marL="0" indent="0">
              <a:buNone/>
            </a:pPr>
            <a:r>
              <a:rPr lang="en-US" sz="1500" dirty="0"/>
              <a:t>The analysis helps Spice Odyssey’s </a:t>
            </a:r>
            <a:r>
              <a:rPr lang="en-US" sz="1500" b="1" dirty="0"/>
              <a:t>marketing and product teams</a:t>
            </a:r>
            <a:r>
              <a:rPr lang="en-US" sz="1500" dirty="0"/>
              <a:t> understand:</a:t>
            </a:r>
          </a:p>
          <a:p>
            <a:pPr lvl="1"/>
            <a:r>
              <a:rPr lang="en-US" altLang="en-US" sz="1500" dirty="0"/>
              <a:t>The restaurant operates across </a:t>
            </a:r>
            <a:r>
              <a:rPr lang="en-US" altLang="en-US" sz="1500" b="1" dirty="0"/>
              <a:t>multiple cuisine categories</a:t>
            </a:r>
            <a:r>
              <a:rPr lang="en-US" altLang="en-US" sz="1500" dirty="0"/>
              <a:t> — </a:t>
            </a:r>
            <a:r>
              <a:rPr lang="en-US" altLang="en-US" sz="1500" b="1" dirty="0"/>
              <a:t>Asian, Mexican, Italian, and American.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500" dirty="0"/>
              <a:t>Sales performance varies by </a:t>
            </a:r>
            <a:r>
              <a:rPr lang="en-US" sz="1500" b="1" dirty="0"/>
              <a:t>weekday, meal type, and time of day</a:t>
            </a:r>
            <a:r>
              <a:rPr lang="en-US" sz="1500" dirty="0"/>
              <a:t>.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Stakeholders lacked a </a:t>
            </a:r>
            <a:r>
              <a:rPr lang="en-US" altLang="en-US" sz="1500" b="1" dirty="0"/>
              <a:t>centralized analytics solution</a:t>
            </a:r>
            <a:r>
              <a:rPr lang="en-US" altLang="en-US" sz="1500" dirty="0"/>
              <a:t> to: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Monitor overall performance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Identify demand patterns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Uncover revenue and growth opportunities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dirty="0"/>
              <a:t>This analysis consolidates raw transactional data into a </a:t>
            </a:r>
            <a:r>
              <a:rPr lang="en-US" altLang="en-US" sz="1500" b="1" dirty="0"/>
              <a:t>single, interactive Power BI dashboard</a:t>
            </a:r>
            <a:r>
              <a:rPr lang="en-US" altLang="en-US" sz="1500" dirty="0"/>
              <a:t>, enabling faster insights and more informed strategic decisions.</a:t>
            </a:r>
            <a:endParaRPr 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12431148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1CBA7-B2EC-113A-63CA-08AC4CE38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6269-369E-FA03-9818-12C6476A8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🗂️ </a:t>
            </a:r>
            <a:r>
              <a:rPr lang="en-US" b="1" dirty="0"/>
              <a:t>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BA16E-7E4C-F05D-43DC-96B4E2273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3312"/>
            <a:ext cx="12192000" cy="5504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 </a:t>
            </a:r>
            <a:r>
              <a:rPr lang="en-US" altLang="en-US" sz="1500" dirty="0"/>
              <a:t>Internal restaurant transactional sales dataset (simulated business data for analytics use case)</a:t>
            </a:r>
            <a:endParaRPr lang="en-US" sz="1500" dirty="0"/>
          </a:p>
          <a:p>
            <a:pPr lvl="1"/>
            <a:r>
              <a:rPr lang="en-US" sz="1500" b="1" dirty="0"/>
              <a:t>Data Type: </a:t>
            </a:r>
            <a:r>
              <a:rPr lang="en-US" altLang="en-US" sz="1500" dirty="0"/>
              <a:t>Structured, row-level order transaction data</a:t>
            </a:r>
            <a:endParaRPr lang="en-US" sz="1500" dirty="0"/>
          </a:p>
          <a:p>
            <a:pPr lvl="1"/>
            <a:r>
              <a:rPr lang="en-US" sz="1500" b="1" dirty="0"/>
              <a:t>Time Period: </a:t>
            </a:r>
            <a:r>
              <a:rPr lang="en-US" altLang="en-US" sz="1500" dirty="0"/>
              <a:t>January 2023 – December 2023</a:t>
            </a:r>
            <a:endParaRPr lang="en-US" sz="1500" b="1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Types: </a:t>
            </a:r>
            <a:r>
              <a:rPr lang="en-US" sz="1500" dirty="0"/>
              <a:t>Order ID, Order Date, Order Hour, Weekday Order Number, Item Name</a:t>
            </a:r>
          </a:p>
          <a:p>
            <a:pPr lvl="1"/>
            <a:r>
              <a:rPr lang="en-US" sz="1500" b="1" dirty="0"/>
              <a:t>Total Rows: </a:t>
            </a:r>
            <a:r>
              <a:rPr lang="en-US" sz="1500" dirty="0"/>
              <a:t>~5,000 order-level records</a:t>
            </a:r>
          </a:p>
          <a:p>
            <a:pPr lvl="1"/>
            <a:r>
              <a:rPr lang="en-US" sz="1500" b="1" dirty="0"/>
              <a:t>Categories:</a:t>
            </a:r>
            <a:endParaRPr lang="en-US" sz="1500" dirty="0"/>
          </a:p>
          <a:p>
            <a:pPr lvl="2"/>
            <a:r>
              <a:rPr lang="en-US" sz="1500" b="1" dirty="0"/>
              <a:t>Cuisine Category:</a:t>
            </a:r>
            <a:r>
              <a:rPr lang="en-US" sz="1500" dirty="0"/>
              <a:t> Asian, Mexican, Italian, American</a:t>
            </a:r>
          </a:p>
          <a:p>
            <a:pPr lvl="2"/>
            <a:r>
              <a:rPr lang="en-US" sz="1500" b="1" dirty="0"/>
              <a:t>Meal Type:</a:t>
            </a:r>
            <a:r>
              <a:rPr lang="en-US" sz="1500" dirty="0"/>
              <a:t> Breakfast, Lunch, Dinner, Late Night</a:t>
            </a:r>
          </a:p>
          <a:p>
            <a:pPr lvl="2"/>
            <a:r>
              <a:rPr lang="en-US" sz="1500" b="1" dirty="0"/>
              <a:t>Time Dimensions:</a:t>
            </a:r>
            <a:r>
              <a:rPr lang="en-US" sz="1500" dirty="0"/>
              <a:t> Month, Weekday, Hour</a:t>
            </a:r>
          </a:p>
          <a:p>
            <a:pPr lvl="1"/>
            <a:r>
              <a:rPr lang="en-US" sz="1500" b="1" dirty="0"/>
              <a:t>Calculated Metrics:</a:t>
            </a:r>
            <a:endParaRPr lang="en-US" sz="1500" dirty="0"/>
          </a:p>
          <a:p>
            <a:pPr lvl="2"/>
            <a:r>
              <a:rPr lang="en-US" sz="1500" dirty="0"/>
              <a:t>Total Orders</a:t>
            </a:r>
          </a:p>
          <a:p>
            <a:pPr lvl="2"/>
            <a:r>
              <a:rPr lang="en-US" sz="1500" dirty="0"/>
              <a:t>Total Sales</a:t>
            </a:r>
          </a:p>
          <a:p>
            <a:pPr lvl="2"/>
            <a:r>
              <a:rPr lang="en-US" sz="1500" dirty="0"/>
              <a:t>Average Price</a:t>
            </a:r>
          </a:p>
          <a:p>
            <a:pPr lvl="2"/>
            <a:r>
              <a:rPr lang="en-US" sz="1500" dirty="0"/>
              <a:t>Average Order Value (AOV)</a:t>
            </a:r>
          </a:p>
        </p:txBody>
      </p:sp>
    </p:spTree>
    <p:extLst>
      <p:ext uri="{BB962C8B-B14F-4D97-AF65-F5344CB8AC3E}">
        <p14:creationId xmlns:p14="http://schemas.microsoft.com/office/powerpoint/2010/main" val="4172272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11E3-A2A8-7794-5F23-FB02F995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62CC4-E061-AD0B-12AC-E03566054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" y="1536192"/>
            <a:ext cx="12192000" cy="5303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 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Data validation &amp; exploratory analysis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ETL transformations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  <a:endParaRPr lang="en-US" sz="1500" b="1" dirty="0"/>
          </a:p>
          <a:p>
            <a:pPr lvl="2"/>
            <a:r>
              <a:rPr lang="en-US" sz="1500" dirty="0"/>
              <a:t>DAX – Calculated measures and time intelligence</a:t>
            </a:r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4132828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7F9D2-2B08-BE7A-AC68-5C145432C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92F80-7C66-FE98-3511-7E503E08D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16151"/>
          </a:xfrm>
        </p:spPr>
        <p:txBody>
          <a:bodyPr/>
          <a:lstStyle/>
          <a:p>
            <a:r>
              <a:rPr lang="en-US" dirty="0"/>
              <a:t>📈 </a:t>
            </a:r>
            <a:r>
              <a:rPr lang="en-US" b="1" dirty="0"/>
              <a:t>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D1376-0A7F-D1E8-CDD9-CFBB636EB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/>
              <a:t>Preparation, </a:t>
            </a:r>
            <a:r>
              <a:rPr lang="en-US" sz="1500" b="1" dirty="0"/>
              <a:t>Process &amp; Analytical Approach:</a:t>
            </a:r>
          </a:p>
          <a:p>
            <a:pPr marL="0" indent="0">
              <a:buNone/>
            </a:pPr>
            <a:r>
              <a:rPr lang="en-US" sz="1400" b="1" dirty="0"/>
              <a:t>Data Preparation &amp; Cleaning:</a:t>
            </a:r>
          </a:p>
          <a:p>
            <a:pPr lvl="1"/>
            <a:r>
              <a:rPr lang="en-US" sz="1400" dirty="0"/>
              <a:t>Imported raw restaurant sales data &amp; verified column consistency (Order Date, Order Time, Category, Item Name, Price).</a:t>
            </a:r>
          </a:p>
          <a:p>
            <a:pPr lvl="1"/>
            <a:r>
              <a:rPr lang="en-US" sz="1400" dirty="0"/>
              <a:t>Performed data quality checks: Missing values, Duplicate </a:t>
            </a:r>
            <a:r>
              <a:rPr lang="en-US" sz="1400" b="1" dirty="0" err="1"/>
              <a:t>Order_Details_ID</a:t>
            </a:r>
            <a:r>
              <a:rPr lang="en-US" sz="1400" b="1" dirty="0"/>
              <a:t>, </a:t>
            </a:r>
            <a:r>
              <a:rPr lang="en-US" sz="1400" dirty="0"/>
              <a:t>Invalid or inconsistent price entries.</a:t>
            </a:r>
          </a:p>
          <a:p>
            <a:pPr lvl="1"/>
            <a:r>
              <a:rPr lang="en-US" sz="1400" dirty="0"/>
              <a:t>Standardized date and time formats &amp; ensured category and item naming consistency for downstream BI usage.</a:t>
            </a:r>
          </a:p>
          <a:p>
            <a:pPr marL="0" indent="0">
              <a:buNone/>
            </a:pPr>
            <a:r>
              <a:rPr lang="en-US" sz="1400" b="1" dirty="0"/>
              <a:t>Data Modeling &amp; Integration:</a:t>
            </a:r>
          </a:p>
          <a:p>
            <a:pPr lvl="1"/>
            <a:r>
              <a:rPr lang="en-US" sz="1400" dirty="0"/>
              <a:t>Imported the cleaned Excel dataset into </a:t>
            </a:r>
            <a:r>
              <a:rPr lang="en-US" sz="1400" b="1" dirty="0"/>
              <a:t>Power BI.</a:t>
            </a:r>
            <a:endParaRPr lang="en-US" sz="1400" dirty="0"/>
          </a:p>
          <a:p>
            <a:pPr lvl="1"/>
            <a:r>
              <a:rPr lang="en-US" sz="1400" dirty="0"/>
              <a:t>Used a </a:t>
            </a:r>
            <a:r>
              <a:rPr lang="en-US" sz="1400" b="1" dirty="0"/>
              <a:t>single-table, flat data model</a:t>
            </a:r>
            <a:r>
              <a:rPr lang="en-US" sz="1400" dirty="0"/>
              <a:t> for performance and simplicity.</a:t>
            </a:r>
          </a:p>
          <a:p>
            <a:pPr lvl="1"/>
            <a:r>
              <a:rPr lang="en-US" sz="1400" dirty="0"/>
              <a:t>Created logical analytical groupings: Order Date → Month, Weekday, Order Time → Order Hour, Category → Item hierarchy.</a:t>
            </a:r>
          </a:p>
          <a:p>
            <a:pPr lvl="1"/>
            <a:r>
              <a:rPr lang="en-US" sz="1400" dirty="0"/>
              <a:t>Enabled dynamic slicing by: Item Category, Meal Type, Weekday Order Number.</a:t>
            </a:r>
          </a:p>
          <a:p>
            <a:pPr marL="0" indent="0">
              <a:buNone/>
            </a:pPr>
            <a:r>
              <a:rPr lang="en-US" sz="1400" b="1" dirty="0"/>
              <a:t>Feature Engineering:</a:t>
            </a:r>
          </a:p>
          <a:p>
            <a:pPr lvl="1"/>
            <a:r>
              <a:rPr lang="en-US" sz="1400" dirty="0"/>
              <a:t>Created derived columns using </a:t>
            </a:r>
            <a:r>
              <a:rPr lang="en-US" sz="1400" b="1" dirty="0"/>
              <a:t>Excel + Power BI</a:t>
            </a:r>
            <a:r>
              <a:rPr lang="en-US" sz="1400" dirty="0"/>
              <a:t>: Order Month, Weekday Order Number (for correct weekday sorting), Meal Type classification based on order time.</a:t>
            </a:r>
          </a:p>
          <a:p>
            <a:pPr lvl="1"/>
            <a:r>
              <a:rPr lang="en-US" sz="1400" dirty="0"/>
              <a:t>Developed key DAX measures: Total Orders, Total Sales, Average Price, Average Order Value (AOV).</a:t>
            </a:r>
          </a:p>
          <a:p>
            <a:pPr marL="0" indent="0">
              <a:buNone/>
            </a:pPr>
            <a:r>
              <a:rPr lang="en-US" sz="1400" b="1" dirty="0"/>
              <a:t>Visualization Design:</a:t>
            </a:r>
          </a:p>
          <a:p>
            <a:pPr lvl="1"/>
            <a:r>
              <a:rPr lang="en-US" sz="1400" dirty="0"/>
              <a:t>Designed KPI cards for quick executive-level insights.</a:t>
            </a:r>
          </a:p>
          <a:p>
            <a:pPr lvl="1"/>
            <a:r>
              <a:rPr lang="en-US" sz="1400" dirty="0"/>
              <a:t>Optimized visual hierarchy for business storytelling and decision-making.</a:t>
            </a:r>
          </a:p>
          <a:p>
            <a:pPr marL="0" indent="0">
              <a:buNone/>
            </a:pPr>
            <a:r>
              <a:rPr lang="en-US" sz="1400" b="1" dirty="0"/>
              <a:t>Validation &amp; Formatting:</a:t>
            </a:r>
          </a:p>
          <a:p>
            <a:pPr lvl="1"/>
            <a:r>
              <a:rPr lang="en-US" sz="1400" dirty="0"/>
              <a:t>Validated slicer interactions across all visuals.</a:t>
            </a:r>
          </a:p>
          <a:p>
            <a:pPr lvl="1"/>
            <a:r>
              <a:rPr lang="en-US" sz="1400" dirty="0"/>
              <a:t>Finalized dashboard for presentation and stakeholder consumption.</a:t>
            </a:r>
          </a:p>
        </p:txBody>
      </p:sp>
    </p:spTree>
    <p:extLst>
      <p:ext uri="{BB962C8B-B14F-4D97-AF65-F5344CB8AC3E}">
        <p14:creationId xmlns:p14="http://schemas.microsoft.com/office/powerpoint/2010/main" val="3614080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B5B7-385A-001C-9ABC-EBA78E047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36F87-DF18-5AE1-0FC7-89A1C41FF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7280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D71D2-ABCA-6D67-B60E-962812489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2768"/>
            <a:ext cx="12192000" cy="52852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Restaurants generate large volumes of transactional data across orders, menu items, cuisines, meal times, and days of operation. However, without structured analysis, it becomes difficult to identify: Best cuisine categories, Peak order placement periods, Top revenue-generating menu items, Ordering behavior variation by time and meal type.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This project analyzes </a:t>
            </a:r>
            <a:r>
              <a:rPr lang="en-US" sz="1600" b="1" dirty="0"/>
              <a:t>Spice Odyssey’s sales data</a:t>
            </a:r>
            <a:r>
              <a:rPr lang="en-US" sz="1600" dirty="0"/>
              <a:t> to uncover actionable insights that support </a:t>
            </a:r>
            <a:r>
              <a:rPr lang="en-US" sz="1600" b="1" dirty="0"/>
              <a:t>menu optimization, operational planning, and revenue growth</a:t>
            </a:r>
            <a:r>
              <a:rPr lang="en-US" sz="1600" dirty="0"/>
              <a:t>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  <a:endParaRPr lang="en-US" sz="1500" dirty="0"/>
          </a:p>
          <a:p>
            <a:pPr lvl="1"/>
            <a:r>
              <a:rPr lang="en-US" sz="1500" dirty="0"/>
              <a:t>Which cuisine category receives the highest number of orders?</a:t>
            </a:r>
          </a:p>
          <a:p>
            <a:pPr lvl="1"/>
            <a:r>
              <a:rPr lang="en-US" sz="1500" dirty="0"/>
              <a:t>How do orders and sales vary across weekdays and time?</a:t>
            </a:r>
          </a:p>
          <a:p>
            <a:pPr lvl="1"/>
            <a:r>
              <a:rPr lang="en-US" sz="1500" dirty="0"/>
              <a:t>Which cuisines and items drive the most revenue?</a:t>
            </a:r>
          </a:p>
          <a:p>
            <a:pPr lvl="1"/>
            <a:r>
              <a:rPr lang="en-US" sz="1500" dirty="0"/>
              <a:t>What patterns define high-value customer orders?</a:t>
            </a:r>
          </a:p>
        </p:txBody>
      </p:sp>
    </p:spTree>
    <p:extLst>
      <p:ext uri="{BB962C8B-B14F-4D97-AF65-F5344CB8AC3E}">
        <p14:creationId xmlns:p14="http://schemas.microsoft.com/office/powerpoint/2010/main" val="1031171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7E577-2B86-C564-14EB-D400F7E5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1737A-7469-A45C-89DC-D3ADD9657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4CCC3-91A6-23AA-28FD-3DC132AF9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3976"/>
            <a:ext cx="12192000" cy="4764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</a:p>
          <a:p>
            <a:pPr lvl="1"/>
            <a:r>
              <a:rPr lang="en-US" sz="1500" b="1" dirty="0"/>
              <a:t>Asian cuisine</a:t>
            </a:r>
            <a:r>
              <a:rPr lang="en-US" sz="1500" dirty="0"/>
              <a:t> is the most ordered category.</a:t>
            </a:r>
          </a:p>
          <a:p>
            <a:pPr lvl="1"/>
            <a:r>
              <a:rPr lang="en-US" sz="1500" b="1" dirty="0"/>
              <a:t>Dinner time</a:t>
            </a:r>
            <a:r>
              <a:rPr lang="en-US" sz="1500" dirty="0"/>
              <a:t> contributes the highest share of orders (~60%).</a:t>
            </a:r>
          </a:p>
          <a:p>
            <a:pPr lvl="1"/>
            <a:r>
              <a:rPr lang="en-US" sz="1500" b="1" dirty="0"/>
              <a:t>Lunch and dinner hours (12 PM &amp; 5–7 PM)</a:t>
            </a:r>
            <a:r>
              <a:rPr lang="en-US" sz="1500" dirty="0"/>
              <a:t> generate peak revenue.</a:t>
            </a:r>
          </a:p>
          <a:p>
            <a:pPr lvl="1"/>
            <a:r>
              <a:rPr lang="en-US" sz="1500" dirty="0"/>
              <a:t>Premium items like </a:t>
            </a:r>
            <a:r>
              <a:rPr lang="en-US" sz="1500" b="1" dirty="0"/>
              <a:t>Tofu Pad Thai and Steak Torta</a:t>
            </a:r>
            <a:r>
              <a:rPr lang="en-US" sz="1500" dirty="0"/>
              <a:t> drive higher sales.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</a:p>
          <a:p>
            <a:pPr lvl="1"/>
            <a:r>
              <a:rPr lang="en-US" sz="1500" dirty="0"/>
              <a:t>Asian category: ~2.6K orders</a:t>
            </a:r>
          </a:p>
          <a:p>
            <a:pPr lvl="1"/>
            <a:r>
              <a:rPr lang="en-US" sz="1500" dirty="0"/>
              <a:t>Dinner orders: ~60.6% of total</a:t>
            </a:r>
          </a:p>
          <a:p>
            <a:pPr lvl="1"/>
            <a:r>
              <a:rPr lang="en-US" sz="1500" dirty="0"/>
              <a:t>Peak weekday demand: </a:t>
            </a:r>
            <a:r>
              <a:rPr lang="en-US" sz="1500" b="1" dirty="0"/>
              <a:t>Monday &amp; Friday</a:t>
            </a:r>
            <a:endParaRPr lang="en-US" sz="1500" dirty="0"/>
          </a:p>
          <a:p>
            <a:pPr lvl="1"/>
            <a:r>
              <a:rPr lang="en-US" sz="1500" dirty="0"/>
              <a:t>Highest-selling item: </a:t>
            </a:r>
            <a:r>
              <a:rPr lang="en-US" sz="1500" b="1" dirty="0"/>
              <a:t>Tofu Pad Thai (~8.1K sales)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732127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81B5-C578-E115-D4EE-3B5B5CC69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3F1E8-B7D8-C1FF-1F55-3E5F6C36A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72184"/>
            <a:ext cx="12192000" cy="53858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</a:p>
          <a:p>
            <a:pPr lvl="1"/>
            <a:r>
              <a:rPr lang="en-US" sz="1500" dirty="0"/>
              <a:t>The analysis reveals that </a:t>
            </a:r>
            <a:r>
              <a:rPr lang="en-US" sz="1500" b="1" dirty="0"/>
              <a:t>customer demand at Spice Odyssey is highly influenced by cuisine type, meal timing, and ordering patterns across the week</a:t>
            </a:r>
            <a:r>
              <a:rPr lang="en-US" sz="1500" dirty="0"/>
              <a:t>. Certain cuisines consistently outperform others in both order volume and revenue contribution, indicating clear customer preferences.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Asian and Mexican cuisines emerge as the strongest growth drivers</a:t>
            </a:r>
            <a:r>
              <a:rPr lang="en-US" sz="1500" dirty="0"/>
              <a:t>, leading in total orders and maintaining competitive average prices. These categories present significant opportunities for </a:t>
            </a:r>
            <a:r>
              <a:rPr lang="en-US" sz="1500" b="1" dirty="0"/>
              <a:t>menu expansion, promotional focus, and inventory prioritization</a:t>
            </a:r>
            <a:r>
              <a:rPr lang="en-US" sz="1500" dirty="0"/>
              <a:t>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High-value orders are primarily concentrated during </a:t>
            </a:r>
            <a:r>
              <a:rPr lang="en-US" sz="1500" b="1" dirty="0"/>
              <a:t>peak meal hours—especially lunch and dinner periods</a:t>
            </a:r>
            <a:r>
              <a:rPr lang="en-US" sz="1500" dirty="0"/>
              <a:t>—and are associated with </a:t>
            </a:r>
            <a:r>
              <a:rPr lang="en-US" sz="1500" b="1" dirty="0"/>
              <a:t>premium or popular menu items</a:t>
            </a:r>
            <a:r>
              <a:rPr lang="en-US" sz="1500" dirty="0"/>
              <a:t>. This highlights the importance of aligning pricing strategies, staffing, and promotional efforts with high-traffic time windows.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The interactive Power BI dashboard provides a </a:t>
            </a:r>
            <a:r>
              <a:rPr lang="en-US" sz="1500" b="1" dirty="0"/>
              <a:t>centralized, real-time view of restaurant performance</a:t>
            </a:r>
            <a:r>
              <a:rPr lang="en-US" sz="1500" dirty="0"/>
              <a:t>, enabling management to:</a:t>
            </a:r>
          </a:p>
          <a:p>
            <a:pPr lvl="2"/>
            <a:r>
              <a:rPr lang="en-US" sz="1500" dirty="0"/>
              <a:t>Monitor sales and order trends dynamically</a:t>
            </a:r>
          </a:p>
          <a:p>
            <a:pPr lvl="2"/>
            <a:r>
              <a:rPr lang="en-US" sz="1500" dirty="0"/>
              <a:t>Identify high-performing cuisines and items</a:t>
            </a:r>
          </a:p>
          <a:p>
            <a:pPr lvl="2"/>
            <a:r>
              <a:rPr lang="en-US" sz="1500" dirty="0"/>
              <a:t>Optimize menu strategy and operational planning</a:t>
            </a:r>
          </a:p>
          <a:p>
            <a:pPr lvl="2"/>
            <a:r>
              <a:rPr lang="en-US" sz="1500" dirty="0"/>
              <a:t>Make faster, data-driven business decisions</a:t>
            </a:r>
          </a:p>
          <a:p>
            <a:pPr marL="0" indent="0">
              <a:buNone/>
            </a:pPr>
            <a:r>
              <a:rPr lang="en-US" sz="1500" dirty="0"/>
              <a:t>Overall, this project demonstrates how </a:t>
            </a:r>
            <a:r>
              <a:rPr lang="en-US" sz="1500" b="1" dirty="0"/>
              <a:t>structured sales analytics can directly support revenue growth, customer satisfaction, and operational efficiency</a:t>
            </a:r>
            <a:r>
              <a:rPr lang="en-US" sz="1500" dirty="0"/>
              <a:t> in a restaurant business.</a:t>
            </a:r>
          </a:p>
        </p:txBody>
      </p:sp>
    </p:spTree>
    <p:extLst>
      <p:ext uri="{BB962C8B-B14F-4D97-AF65-F5344CB8AC3E}">
        <p14:creationId xmlns:p14="http://schemas.microsoft.com/office/powerpoint/2010/main" val="2930939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EE8F-1C7D-473A-67DC-0702E54E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7CD5-1967-34C2-0596-52403C529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sz="4000" b="1" dirty="0"/>
              <a:t>🖥️ Dashboard Overview – Sales Performance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1226C6E-0F9D-CF9C-6EE4-597A60A838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3312"/>
            <a:ext cx="12192000" cy="5504687"/>
          </a:xfrm>
        </p:spPr>
      </p:pic>
    </p:spTree>
    <p:extLst>
      <p:ext uri="{BB962C8B-B14F-4D97-AF65-F5344CB8AC3E}">
        <p14:creationId xmlns:p14="http://schemas.microsoft.com/office/powerpoint/2010/main" val="102998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14F3A-2AE5-5D64-E967-D92B175D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6C242B65-B659-DB4E-7B32-9441A85C9C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36235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27C3C13-8163-D6BA-A4EE-8F17076CB35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" y="1651308"/>
            <a:ext cx="12088367" cy="43293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/>
            <a:r>
              <a:rPr lang="en-US" sz="1500" dirty="0"/>
              <a:t>By identifying </a:t>
            </a:r>
            <a:r>
              <a:rPr lang="en-US" sz="1500" b="1" dirty="0"/>
              <a:t>top-performing cuisines and high-value menu items</a:t>
            </a:r>
            <a:r>
              <a:rPr lang="en-US" sz="1500" dirty="0"/>
              <a:t>, the dashboard supports </a:t>
            </a:r>
            <a:r>
              <a:rPr lang="en-US" sz="1500" b="1" dirty="0"/>
              <a:t>revenue optimization through informed pricing, bundling, and promotional strategies</a:t>
            </a:r>
            <a:r>
              <a:rPr lang="en-US" sz="1500" dirty="0"/>
              <a:t>. Category-level demand insights highlight strong growth opportunities in </a:t>
            </a:r>
            <a:r>
              <a:rPr lang="en-US" sz="1500" b="1" dirty="0"/>
              <a:t>Asian and Mexican cuisines</a:t>
            </a:r>
            <a:r>
              <a:rPr lang="en-US" sz="1500" dirty="0"/>
              <a:t>, guiding menu expansion and product development decisions.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Operational efficiency is enhanced through analysis of </a:t>
            </a:r>
            <a:r>
              <a:rPr lang="en-US" sz="1500" b="1" dirty="0"/>
              <a:t>peak ordering hours and meal-type trends</a:t>
            </a:r>
            <a:r>
              <a:rPr lang="en-US" sz="1500" dirty="0"/>
              <a:t>, enabling improved </a:t>
            </a:r>
            <a:r>
              <a:rPr lang="en-US" sz="1500" b="1" dirty="0"/>
              <a:t>staff scheduling, inventory planning, and kitchen workload management</a:t>
            </a:r>
            <a:r>
              <a:rPr lang="en-US" sz="1500" dirty="0"/>
              <a:t>. Marketing teams can leverage </a:t>
            </a:r>
            <a:r>
              <a:rPr lang="en-US" sz="1500" b="1" dirty="0"/>
              <a:t>weekday and time-based demand patterns</a:t>
            </a:r>
            <a:r>
              <a:rPr lang="en-US" sz="1500" dirty="0"/>
              <a:t> to design targeted campaigns such as lunch offers, dinner combos, and weekday-specific promotions.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The centralized </a:t>
            </a:r>
            <a:r>
              <a:rPr lang="en-US" sz="1500" b="1" dirty="0"/>
              <a:t>Power BI dashboard replaces manual reporting</a:t>
            </a:r>
            <a:r>
              <a:rPr lang="en-US" sz="1500" dirty="0"/>
              <a:t>, allowing leadership to track </a:t>
            </a:r>
            <a:r>
              <a:rPr lang="en-US" sz="1500" b="1" dirty="0"/>
              <a:t>daily, weekly, and monthly performance in real time</a:t>
            </a:r>
            <a:r>
              <a:rPr lang="en-US" sz="1500" dirty="0"/>
              <a:t>. This ensures faster insights, consistent reporting, and better strategic planning across the organization.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Primary Use Cases</a:t>
            </a:r>
          </a:p>
          <a:p>
            <a:pPr lvl="2"/>
            <a:r>
              <a:rPr lang="en-US" sz="1500" b="1" dirty="0"/>
              <a:t>Restaurant Management:</a:t>
            </a:r>
            <a:r>
              <a:rPr lang="en-US" sz="1500" dirty="0"/>
              <a:t> Monitor performance trends and optimize operations to improve profitability</a:t>
            </a:r>
          </a:p>
          <a:p>
            <a:pPr lvl="2"/>
            <a:r>
              <a:rPr lang="en-US" sz="1500" b="1" dirty="0"/>
              <a:t>Menu &amp; Product Teams:</a:t>
            </a:r>
            <a:r>
              <a:rPr lang="en-US" sz="1500" dirty="0"/>
              <a:t> Identify high-demand and underperforming items to guide menu strategy</a:t>
            </a:r>
          </a:p>
          <a:p>
            <a:pPr lvl="2"/>
            <a:r>
              <a:rPr lang="en-US" sz="1500" b="1" dirty="0"/>
              <a:t>Marketing Teams:</a:t>
            </a:r>
            <a:r>
              <a:rPr lang="en-US" sz="1500" dirty="0"/>
              <a:t> Launch targeted, time-based promotional campaigns</a:t>
            </a:r>
          </a:p>
          <a:p>
            <a:pPr lvl="2"/>
            <a:r>
              <a:rPr lang="en-US" sz="1500" b="1" dirty="0"/>
              <a:t>Operations &amp; Supply Chain:</a:t>
            </a:r>
            <a:r>
              <a:rPr lang="en-US" sz="1500" dirty="0"/>
              <a:t> Align staffing and ingredient procurement with demand patterns</a:t>
            </a:r>
          </a:p>
          <a:p>
            <a:pPr lvl="2"/>
            <a:r>
              <a:rPr lang="en-US" sz="1500" b="1" dirty="0"/>
              <a:t>Leadership &amp; Stakeholders:</a:t>
            </a:r>
            <a:r>
              <a:rPr lang="en-US" sz="1500" dirty="0"/>
              <a:t> Drive strategic decisions using reliable KPIs and visual insights</a:t>
            </a:r>
          </a:p>
        </p:txBody>
      </p:sp>
    </p:spTree>
    <p:extLst>
      <p:ext uri="{BB962C8B-B14F-4D97-AF65-F5344CB8AC3E}">
        <p14:creationId xmlns:p14="http://schemas.microsoft.com/office/powerpoint/2010/main" val="3286508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54EA-C6C0-AD7A-DFE4-7B107D73F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2143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620C-3B01-BD8D-C488-C2363A934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12192000" cy="534923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27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DE7D-CAB5-CBBB-05B8-C656AA0A0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3499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6872</TotalTime>
  <Words>1292</Words>
  <Application>Microsoft Office PowerPoint</Application>
  <PresentationFormat>Widescreen</PresentationFormat>
  <Paragraphs>141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Spice Odyssey Sales Performance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📍Conclusion</vt:lpstr>
      <vt:lpstr>🖥️ Dashboard Overview – Sales Performance 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57</cp:revision>
  <dcterms:created xsi:type="dcterms:W3CDTF">2025-10-10T07:10:37Z</dcterms:created>
  <dcterms:modified xsi:type="dcterms:W3CDTF">2026-01-05T10:51:51Z</dcterms:modified>
</cp:coreProperties>
</file>